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4"/>
  </p:notesMasterIdLst>
  <p:sldIdLst>
    <p:sldId id="256" r:id="rId2"/>
    <p:sldId id="259" r:id="rId3"/>
    <p:sldId id="258" r:id="rId4"/>
    <p:sldId id="261" r:id="rId5"/>
    <p:sldId id="269" r:id="rId6"/>
    <p:sldId id="266" r:id="rId7"/>
    <p:sldId id="267" r:id="rId8"/>
    <p:sldId id="268" r:id="rId9"/>
    <p:sldId id="260" r:id="rId10"/>
    <p:sldId id="264" r:id="rId11"/>
    <p:sldId id="265" r:id="rId12"/>
    <p:sldId id="263" r:id="rId1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413D"/>
    <a:srgbClr val="B197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5"/>
    <p:restoredTop sz="94674"/>
  </p:normalViewPr>
  <p:slideViewPr>
    <p:cSldViewPr snapToGrid="0">
      <p:cViewPr>
        <p:scale>
          <a:sx n="100" d="100"/>
          <a:sy n="100" d="100"/>
        </p:scale>
        <p:origin x="2008" y="-1624"/>
      </p:cViewPr>
      <p:guideLst>
        <p:guide orient="horz" pos="3120"/>
        <p:guide pos="218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E5EA5F-20A1-3D46-B9C2-B0CD362CB360}" type="datetimeFigureOut">
              <a:rPr lang="pt-BR" smtClean="0"/>
              <a:t>06/01/2025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4FC5ED-D811-424E-964B-B268AC8EBB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6804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4FC5ED-D811-424E-964B-B268AC8EBB82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8854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4FAF1-6DB5-6749-B962-778B6ECA0F20}" type="datetimeFigureOut">
              <a:rPr lang="pt-BR" smtClean="0"/>
              <a:t>05/01/2025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FBD31-D7A0-4144-B36B-292FE1CAF4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899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4FAF1-6DB5-6749-B962-778B6ECA0F20}" type="datetimeFigureOut">
              <a:rPr lang="pt-BR" smtClean="0"/>
              <a:t>05/01/2025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FBD31-D7A0-4144-B36B-292FE1CAF4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8607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4FAF1-6DB5-6749-B962-778B6ECA0F20}" type="datetimeFigureOut">
              <a:rPr lang="pt-BR" smtClean="0"/>
              <a:t>05/01/2025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FBD31-D7A0-4144-B36B-292FE1CAF4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9329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4FAF1-6DB5-6749-B962-778B6ECA0F20}" type="datetimeFigureOut">
              <a:rPr lang="pt-BR" smtClean="0"/>
              <a:t>05/01/2025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FBD31-D7A0-4144-B36B-292FE1CAF4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1936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4FAF1-6DB5-6749-B962-778B6ECA0F20}" type="datetimeFigureOut">
              <a:rPr lang="pt-BR" smtClean="0"/>
              <a:t>05/01/2025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FBD31-D7A0-4144-B36B-292FE1CAF4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272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4FAF1-6DB5-6749-B962-778B6ECA0F20}" type="datetimeFigureOut">
              <a:rPr lang="pt-BR" smtClean="0"/>
              <a:t>05/01/2025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FBD31-D7A0-4144-B36B-292FE1CAF4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1387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4FAF1-6DB5-6749-B962-778B6ECA0F20}" type="datetimeFigureOut">
              <a:rPr lang="pt-BR" smtClean="0"/>
              <a:t>05/01/2025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FBD31-D7A0-4144-B36B-292FE1CAF4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0440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4FAF1-6DB5-6749-B962-778B6ECA0F20}" type="datetimeFigureOut">
              <a:rPr lang="pt-BR" smtClean="0"/>
              <a:t>05/01/2025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FBD31-D7A0-4144-B36B-292FE1CAF4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4214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4FAF1-6DB5-6749-B962-778B6ECA0F20}" type="datetimeFigureOut">
              <a:rPr lang="pt-BR" smtClean="0"/>
              <a:t>05/01/2025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FBD31-D7A0-4144-B36B-292FE1CAF4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0285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4FAF1-6DB5-6749-B962-778B6ECA0F20}" type="datetimeFigureOut">
              <a:rPr lang="pt-BR" smtClean="0"/>
              <a:t>05/01/2025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FBD31-D7A0-4144-B36B-292FE1CAF4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1421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4FAF1-6DB5-6749-B962-778B6ECA0F20}" type="datetimeFigureOut">
              <a:rPr lang="pt-BR" smtClean="0"/>
              <a:t>05/01/2025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FBD31-D7A0-4144-B36B-292FE1CAF4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4775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54FAF1-6DB5-6749-B962-778B6ECA0F20}" type="datetimeFigureOut">
              <a:rPr lang="pt-BR" smtClean="0"/>
              <a:t>05/01/2025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9FBD31-D7A0-4144-B36B-292FE1CAF4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0819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8208DDF8-2173-4D0F-C274-8D77EF5C87EA}"/>
              </a:ext>
            </a:extLst>
          </p:cNvPr>
          <p:cNvSpPr txBox="1"/>
          <p:nvPr/>
        </p:nvSpPr>
        <p:spPr>
          <a:xfrm>
            <a:off x="556591" y="315605"/>
            <a:ext cx="57448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Impact" panose="020B0806030902050204" pitchFamily="34" charset="0"/>
              </a:rPr>
              <a:t>O CÓDIGO DO IMPERADOR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B2A7A47-7506-41CD-33D6-4A0DD2C39AEB}"/>
              </a:ext>
            </a:extLst>
          </p:cNvPr>
          <p:cNvSpPr txBox="1"/>
          <p:nvPr/>
        </p:nvSpPr>
        <p:spPr>
          <a:xfrm>
            <a:off x="556590" y="1023491"/>
            <a:ext cx="57448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Domine as Finanças com o Poder de Python</a:t>
            </a:r>
          </a:p>
        </p:txBody>
      </p:sp>
      <p:pic>
        <p:nvPicPr>
          <p:cNvPr id="1026" name="Picture 2" descr="um imperador programando em python">
            <a:extLst>
              <a:ext uri="{FF2B5EF4-FFF2-40B4-BE49-F238E27FC236}">
                <a16:creationId xmlns:a16="http://schemas.microsoft.com/office/drawing/2014/main" id="{02BE1667-643A-182B-71D4-3F89524FFF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9550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com Canto Arredondado do Mesmo Lado 5">
            <a:extLst>
              <a:ext uri="{FF2B5EF4-FFF2-40B4-BE49-F238E27FC236}">
                <a16:creationId xmlns:a16="http://schemas.microsoft.com/office/drawing/2014/main" id="{FD801744-8ACF-9F9C-CEAB-808281B59BA0}"/>
              </a:ext>
            </a:extLst>
          </p:cNvPr>
          <p:cNvSpPr/>
          <p:nvPr/>
        </p:nvSpPr>
        <p:spPr>
          <a:xfrm>
            <a:off x="1295400" y="9315450"/>
            <a:ext cx="4286250" cy="590550"/>
          </a:xfrm>
          <a:prstGeom prst="round2SameRect">
            <a:avLst/>
          </a:prstGeom>
          <a:solidFill>
            <a:srgbClr val="3E413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EB65315-1A46-7EDF-7C7C-BA12481F712C}"/>
              </a:ext>
            </a:extLst>
          </p:cNvPr>
          <p:cNvSpPr txBox="1"/>
          <p:nvPr/>
        </p:nvSpPr>
        <p:spPr>
          <a:xfrm>
            <a:off x="566116" y="9385320"/>
            <a:ext cx="5744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PIERRE S. BARBOSA</a:t>
            </a:r>
          </a:p>
        </p:txBody>
      </p:sp>
    </p:spTree>
    <p:extLst>
      <p:ext uri="{BB962C8B-B14F-4D97-AF65-F5344CB8AC3E}">
        <p14:creationId xmlns:p14="http://schemas.microsoft.com/office/powerpoint/2010/main" val="57652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29AFE-5325-791F-C165-7DA73A19C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F8FFF53-08FC-DD6D-12A2-15B38EC79060}"/>
              </a:ext>
            </a:extLst>
          </p:cNvPr>
          <p:cNvSpPr txBox="1"/>
          <p:nvPr/>
        </p:nvSpPr>
        <p:spPr>
          <a:xfrm>
            <a:off x="556591" y="3325098"/>
            <a:ext cx="574481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Python é uma das linguagens de programação mais populares no mundo das finanças devido à sua simplicidade, versatilidade e poderosa biblioteca de ferramentas. Este </a:t>
            </a:r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eBook</a:t>
            </a: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 tem como objetivo ensinar conceitos básicos e avançados de finanças utilizando Python, capacitando o leitor a resolver problemas reais do mercado financeiro.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502ADCC-B4B2-4339-1667-53A40F57E3D6}"/>
              </a:ext>
            </a:extLst>
          </p:cNvPr>
          <p:cNvSpPr txBox="1"/>
          <p:nvPr/>
        </p:nvSpPr>
        <p:spPr>
          <a:xfrm>
            <a:off x="556591" y="1445498"/>
            <a:ext cx="57448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latin typeface="Impact" panose="020B0806030902050204" pitchFamily="34" charset="0"/>
              </a:rPr>
              <a:t>Introdução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81A9FB88-1700-29B2-C98A-80BC2E3A1D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4399" y="6741418"/>
            <a:ext cx="2489200" cy="187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143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10EC0027-E86B-D1E9-91A3-B9EA025CBC4C}"/>
              </a:ext>
            </a:extLst>
          </p:cNvPr>
          <p:cNvSpPr txBox="1"/>
          <p:nvPr/>
        </p:nvSpPr>
        <p:spPr>
          <a:xfrm>
            <a:off x="381000" y="1572161"/>
            <a:ext cx="5744817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0" dirty="0">
                <a:latin typeface="Impact" panose="020B0806030902050204" pitchFamily="34" charset="0"/>
              </a:rPr>
              <a:t>01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B64C616-5947-4B41-483F-51B1B1D5AEE2}"/>
              </a:ext>
            </a:extLst>
          </p:cNvPr>
          <p:cNvSpPr txBox="1"/>
          <p:nvPr/>
        </p:nvSpPr>
        <p:spPr>
          <a:xfrm>
            <a:off x="381000" y="4885704"/>
            <a:ext cx="6096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latin typeface="Calibri" panose="020F0502020204030204" pitchFamily="34" charset="0"/>
                <a:cs typeface="Calibri" panose="020F0502020204030204" pitchFamily="34" charset="0"/>
              </a:rPr>
              <a:t>Principais Bibliotecas para Finanças</a:t>
            </a:r>
          </a:p>
        </p:txBody>
      </p:sp>
    </p:spTree>
    <p:extLst>
      <p:ext uri="{BB962C8B-B14F-4D97-AF65-F5344CB8AC3E}">
        <p14:creationId xmlns:p14="http://schemas.microsoft.com/office/powerpoint/2010/main" val="3911762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8CB2A-532C-D0F7-5849-E351ADCB2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E5F7D75-B6B2-61D6-0704-D3CC81669E0B}"/>
              </a:ext>
            </a:extLst>
          </p:cNvPr>
          <p:cNvSpPr txBox="1"/>
          <p:nvPr/>
        </p:nvSpPr>
        <p:spPr>
          <a:xfrm>
            <a:off x="556589" y="3006093"/>
            <a:ext cx="57448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NumPy</a:t>
            </a: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 é fundamental para realizar cálculos matemáticos e manipular </a:t>
            </a:r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arrays</a:t>
            </a: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 de dados financeiros.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3BA31C7-005D-FD68-620E-76BCE0AA923B}"/>
              </a:ext>
            </a:extLst>
          </p:cNvPr>
          <p:cNvSpPr txBox="1"/>
          <p:nvPr/>
        </p:nvSpPr>
        <p:spPr>
          <a:xfrm>
            <a:off x="556591" y="315605"/>
            <a:ext cx="574481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Impact" panose="020B0806030902050204" pitchFamily="34" charset="0"/>
              </a:rPr>
              <a:t>Principais Bibliotecas para Finanças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D3BAE52-86C1-00EC-55A4-A4B0DDA5144C}"/>
              </a:ext>
            </a:extLst>
          </p:cNvPr>
          <p:cNvSpPr txBox="1"/>
          <p:nvPr/>
        </p:nvSpPr>
        <p:spPr>
          <a:xfrm>
            <a:off x="556590" y="1747391"/>
            <a:ext cx="57448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1. Cálculos Numéricos com </a:t>
            </a:r>
            <a:r>
              <a:rPr lang="pt-BR" sz="32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NumPy</a:t>
            </a:r>
            <a:endParaRPr lang="pt-BR" sz="3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B837554-2873-825D-86CF-68F6D4599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" y="4441428"/>
            <a:ext cx="6858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082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B7F32-75CE-E5BB-FEC4-873E98219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39F2E27-1149-FB43-B5FA-C9B1DD1F7E37}"/>
              </a:ext>
            </a:extLst>
          </p:cNvPr>
          <p:cNvSpPr txBox="1"/>
          <p:nvPr/>
        </p:nvSpPr>
        <p:spPr>
          <a:xfrm>
            <a:off x="556589" y="3006093"/>
            <a:ext cx="57448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Pandas é essencial para trabalhar com dados estruturados como tabelas e planilhas financeiras.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B49C9FC-6D12-4E6C-3376-271BE44FC84D}"/>
              </a:ext>
            </a:extLst>
          </p:cNvPr>
          <p:cNvSpPr txBox="1"/>
          <p:nvPr/>
        </p:nvSpPr>
        <p:spPr>
          <a:xfrm>
            <a:off x="556591" y="315605"/>
            <a:ext cx="574481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Impact" panose="020B0806030902050204" pitchFamily="34" charset="0"/>
              </a:rPr>
              <a:t>Principais Bibliotecas para Finanças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B8FD683-C793-E730-2092-05D7D322E8A3}"/>
              </a:ext>
            </a:extLst>
          </p:cNvPr>
          <p:cNvSpPr txBox="1"/>
          <p:nvPr/>
        </p:nvSpPr>
        <p:spPr>
          <a:xfrm>
            <a:off x="556590" y="1747391"/>
            <a:ext cx="57448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2. Manipulação de Dados com Pandas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2976662-0BC8-8F96-9BBC-D36C4BC75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" y="4387906"/>
            <a:ext cx="6858000" cy="426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960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14FE1-33AC-681E-C2DC-71397C9FA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08FF0FB-1E01-BC1B-BE45-CE1F31B6ADAD}"/>
              </a:ext>
            </a:extLst>
          </p:cNvPr>
          <p:cNvSpPr txBox="1"/>
          <p:nvPr/>
        </p:nvSpPr>
        <p:spPr>
          <a:xfrm>
            <a:off x="556589" y="3006093"/>
            <a:ext cx="57448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A visualização é essencial para entender tendências financeiras e apresentar resultados.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26EE6A4-B03B-3593-E7CE-8AA26A869418}"/>
              </a:ext>
            </a:extLst>
          </p:cNvPr>
          <p:cNvSpPr txBox="1"/>
          <p:nvPr/>
        </p:nvSpPr>
        <p:spPr>
          <a:xfrm>
            <a:off x="556591" y="315605"/>
            <a:ext cx="574481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Impact" panose="020B0806030902050204" pitchFamily="34" charset="0"/>
              </a:rPr>
              <a:t>Principais Bibliotecas para Finanças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B371EF6-2BA0-A9B9-E934-840B54721C7B}"/>
              </a:ext>
            </a:extLst>
          </p:cNvPr>
          <p:cNvSpPr txBox="1"/>
          <p:nvPr/>
        </p:nvSpPr>
        <p:spPr>
          <a:xfrm>
            <a:off x="556590" y="1747391"/>
            <a:ext cx="57448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3. Visualização de Dados com </a:t>
            </a:r>
            <a:r>
              <a:rPr lang="pt-BR" sz="32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Matplotlib</a:t>
            </a:r>
            <a:r>
              <a:rPr lang="pt-BR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 e </a:t>
            </a:r>
            <a:r>
              <a:rPr lang="pt-BR" sz="32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Seaborn</a:t>
            </a:r>
            <a:endParaRPr lang="pt-BR" sz="3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69AB9A7-8B71-8789-1FD6-924800159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" y="4387906"/>
            <a:ext cx="6858000" cy="3204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450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7F528-EAC9-9B9A-2165-BA037ED7B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43F2589-3FBD-3C0B-9E65-18C139AF514B}"/>
              </a:ext>
            </a:extLst>
          </p:cNvPr>
          <p:cNvSpPr txBox="1"/>
          <p:nvPr/>
        </p:nvSpPr>
        <p:spPr>
          <a:xfrm>
            <a:off x="556589" y="3006093"/>
            <a:ext cx="57448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Scipy</a:t>
            </a: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 é ideal para realizar análises estatísticas, como correlações entre ativos.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9F8F92B-EA49-9753-7E85-96C7CDFA9DA5}"/>
              </a:ext>
            </a:extLst>
          </p:cNvPr>
          <p:cNvSpPr txBox="1"/>
          <p:nvPr/>
        </p:nvSpPr>
        <p:spPr>
          <a:xfrm>
            <a:off x="556591" y="315605"/>
            <a:ext cx="574481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Impact" panose="020B0806030902050204" pitchFamily="34" charset="0"/>
              </a:rPr>
              <a:t>Principais Bibliotecas para Finanças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1F3DCC0-7D82-9164-6D45-B04A8A68ABE8}"/>
              </a:ext>
            </a:extLst>
          </p:cNvPr>
          <p:cNvSpPr txBox="1"/>
          <p:nvPr/>
        </p:nvSpPr>
        <p:spPr>
          <a:xfrm>
            <a:off x="556590" y="1747391"/>
            <a:ext cx="57448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4. Análise Estatística com </a:t>
            </a:r>
            <a:r>
              <a:rPr lang="pt-BR" sz="32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Scipy</a:t>
            </a:r>
            <a:endParaRPr lang="pt-BR" sz="3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0E2B250-023D-8282-2663-7BAE79B9B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" y="4511017"/>
            <a:ext cx="6858000" cy="268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75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75E7B-F78D-0233-FBA4-1D523FC0C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291130C-5237-B5DE-22DB-869B463B16A7}"/>
              </a:ext>
            </a:extLst>
          </p:cNvPr>
          <p:cNvSpPr txBox="1"/>
          <p:nvPr/>
        </p:nvSpPr>
        <p:spPr>
          <a:xfrm>
            <a:off x="556589" y="3006093"/>
            <a:ext cx="57448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err="1"/>
              <a:t>YFinance</a:t>
            </a:r>
            <a:r>
              <a:rPr lang="pt-BR" sz="2400" dirty="0"/>
              <a:t> é uma biblioteca para acessar dados de mercado em tempo real.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AE7B608-6F82-EF27-B50F-67F58F65F6D8}"/>
              </a:ext>
            </a:extLst>
          </p:cNvPr>
          <p:cNvSpPr txBox="1"/>
          <p:nvPr/>
        </p:nvSpPr>
        <p:spPr>
          <a:xfrm>
            <a:off x="556591" y="315605"/>
            <a:ext cx="574481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Impact" panose="020B0806030902050204" pitchFamily="34" charset="0"/>
              </a:rPr>
              <a:t>Principais Bibliotecas para Finanças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76446FC-5AEA-C54E-2621-8A97991BC83E}"/>
              </a:ext>
            </a:extLst>
          </p:cNvPr>
          <p:cNvSpPr txBox="1"/>
          <p:nvPr/>
        </p:nvSpPr>
        <p:spPr>
          <a:xfrm>
            <a:off x="556590" y="1747391"/>
            <a:ext cx="57448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5. Obtenção de Dados Reais com </a:t>
            </a:r>
            <a:r>
              <a:rPr lang="pt-BR" sz="32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YFinance</a:t>
            </a:r>
            <a:endParaRPr lang="pt-BR" sz="3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30B962A-1367-7EE3-D7F3-BE9E51B4B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" y="4281856"/>
            <a:ext cx="6858000" cy="1844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142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6197E-C9E6-FB49-8056-06B47F182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A992AE4-38A0-3253-ACB0-DADAE8A84E69}"/>
              </a:ext>
            </a:extLst>
          </p:cNvPr>
          <p:cNvSpPr txBox="1"/>
          <p:nvPr/>
        </p:nvSpPr>
        <p:spPr>
          <a:xfrm>
            <a:off x="381000" y="1572161"/>
            <a:ext cx="5744817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0" dirty="0">
                <a:latin typeface="Impact" panose="020B0806030902050204" pitchFamily="34" charset="0"/>
              </a:rPr>
              <a:t>02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6649939-B1AA-05C9-A9D1-6E792A4A3AF2}"/>
              </a:ext>
            </a:extLst>
          </p:cNvPr>
          <p:cNvSpPr txBox="1"/>
          <p:nvPr/>
        </p:nvSpPr>
        <p:spPr>
          <a:xfrm>
            <a:off x="381000" y="4885704"/>
            <a:ext cx="6096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latin typeface="Calibri" panose="020F0502020204030204" pitchFamily="34" charset="0"/>
                <a:cs typeface="Calibri" panose="020F0502020204030204" pitchFamily="34" charset="0"/>
              </a:rPr>
              <a:t>Funções Práticas para Finanças</a:t>
            </a:r>
          </a:p>
        </p:txBody>
      </p:sp>
    </p:spTree>
    <p:extLst>
      <p:ext uri="{BB962C8B-B14F-4D97-AF65-F5344CB8AC3E}">
        <p14:creationId xmlns:p14="http://schemas.microsoft.com/office/powerpoint/2010/main" val="924911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EB530-8556-2E58-BD38-EF51FD6C0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3366CD7-E077-7508-1BE4-B7D8A23C83B5}"/>
              </a:ext>
            </a:extLst>
          </p:cNvPr>
          <p:cNvSpPr txBox="1"/>
          <p:nvPr/>
        </p:nvSpPr>
        <p:spPr>
          <a:xfrm>
            <a:off x="556589" y="3006093"/>
            <a:ext cx="57448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Retornos ajudam a medir a performance de um ativo financeiro.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89CA9A7-B533-3ACD-152F-0192498251A6}"/>
              </a:ext>
            </a:extLst>
          </p:cNvPr>
          <p:cNvSpPr txBox="1"/>
          <p:nvPr/>
        </p:nvSpPr>
        <p:spPr>
          <a:xfrm>
            <a:off x="556591" y="315605"/>
            <a:ext cx="574481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Impact" panose="020B0806030902050204" pitchFamily="34" charset="0"/>
              </a:rPr>
              <a:t>Funções Práticas para Finanças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A9A9F0F-0784-C5E7-EFAF-686D760878D0}"/>
              </a:ext>
            </a:extLst>
          </p:cNvPr>
          <p:cNvSpPr txBox="1"/>
          <p:nvPr/>
        </p:nvSpPr>
        <p:spPr>
          <a:xfrm>
            <a:off x="556590" y="1747391"/>
            <a:ext cx="57448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1. Calculando Retornos de Investimentos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AFD58D4-4048-4F55-D7B8-E07DCB58C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" y="4191658"/>
            <a:ext cx="6858000" cy="314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017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9CC83-B2F9-76A3-EF47-45D01EDCE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2D9AEB6-B7C8-2E2D-3CA4-0CD21A9625E1}"/>
              </a:ext>
            </a:extLst>
          </p:cNvPr>
          <p:cNvSpPr txBox="1"/>
          <p:nvPr/>
        </p:nvSpPr>
        <p:spPr>
          <a:xfrm>
            <a:off x="556589" y="3006093"/>
            <a:ext cx="57448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A Teoria de Portfólios ajuda a alocar investimentos de forma eficiente.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32A28D1-DE9D-D587-011F-1055B9EABF93}"/>
              </a:ext>
            </a:extLst>
          </p:cNvPr>
          <p:cNvSpPr txBox="1"/>
          <p:nvPr/>
        </p:nvSpPr>
        <p:spPr>
          <a:xfrm>
            <a:off x="556591" y="315605"/>
            <a:ext cx="574481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Impact" panose="020B0806030902050204" pitchFamily="34" charset="0"/>
              </a:rPr>
              <a:t>Funções Práticas para Finanças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43B06B6-D95A-4618-5936-9FC8278D6192}"/>
              </a:ext>
            </a:extLst>
          </p:cNvPr>
          <p:cNvSpPr txBox="1"/>
          <p:nvPr/>
        </p:nvSpPr>
        <p:spPr>
          <a:xfrm>
            <a:off x="556590" y="1747391"/>
            <a:ext cx="57448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2. Otimizando um Portfólio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B60E5F1-CB7E-F16A-F9C8-35F4E568E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" y="4511017"/>
            <a:ext cx="6858000" cy="398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000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150DF-1270-4277-696D-C39837958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476D198-0ADF-3CE7-D7BF-4F922C5AE5C3}"/>
              </a:ext>
            </a:extLst>
          </p:cNvPr>
          <p:cNvSpPr txBox="1"/>
          <p:nvPr/>
        </p:nvSpPr>
        <p:spPr>
          <a:xfrm>
            <a:off x="556590" y="3429506"/>
            <a:ext cx="574481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Este </a:t>
            </a:r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eBook</a:t>
            </a: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 fornece uma introdução às ferramentas mais importantes do Python para finanças. Pratique os exemplos e explore aplicações para aprimorar suas habilidades no mercado financeiro.</a:t>
            </a:r>
          </a:p>
          <a:p>
            <a:pPr algn="just"/>
            <a:endParaRPr lang="pt-B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Boa sorte em sua jornada com Python nas finanças!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409A4D-9D73-9E63-4C98-EAA9A2FB2271}"/>
              </a:ext>
            </a:extLst>
          </p:cNvPr>
          <p:cNvSpPr txBox="1"/>
          <p:nvPr/>
        </p:nvSpPr>
        <p:spPr>
          <a:xfrm>
            <a:off x="556589" y="1382405"/>
            <a:ext cx="57448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latin typeface="Impact" panose="020B0806030902050204" pitchFamily="34" charset="0"/>
              </a:rPr>
              <a:t>Conclusão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B2F3DF4B-3088-279D-1BD3-EF807B3C5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4399" y="6741418"/>
            <a:ext cx="2489200" cy="187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25663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2325</TotalTime>
  <Words>282</Words>
  <Application>Microsoft Macintosh PowerPoint</Application>
  <PresentationFormat>Papel A4 (210 x 297 mm)</PresentationFormat>
  <Paragraphs>35</Paragraphs>
  <Slides>12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Calibri Light</vt:lpstr>
      <vt:lpstr>Impact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Pierre Selle Barbosa</dc:creator>
  <cp:lastModifiedBy>Pierre Selle Barbosa</cp:lastModifiedBy>
  <cp:revision>24</cp:revision>
  <dcterms:created xsi:type="dcterms:W3CDTF">2025-01-05T19:07:22Z</dcterms:created>
  <dcterms:modified xsi:type="dcterms:W3CDTF">2025-01-07T09:52:48Z</dcterms:modified>
</cp:coreProperties>
</file>